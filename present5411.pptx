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1" r:id="rId5"/>
    <p:sldId id="2565" r:id="rId6"/>
    <p:sldId id="2577" r:id="rId7"/>
    <p:sldId id="2562" r:id="rId8"/>
    <p:sldId id="2563" r:id="rId9"/>
    <p:sldId id="2564" r:id="rId10"/>
    <p:sldId id="2566" r:id="rId11"/>
    <p:sldId id="2567" r:id="rId12"/>
    <p:sldId id="2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siness Proposal Template" id="{470F7BA3-DD05-4022-8999-252277D233CA}">
          <p14:sldIdLst>
            <p14:sldId id="2561"/>
            <p14:sldId id="2565"/>
            <p14:sldId id="2577"/>
          </p14:sldIdLst>
        </p14:section>
        <p14:section name="Business Proposal Overview" id="{3D5AAB7D-A45E-410F-80A1-2CF79FF99C5D}">
          <p14:sldIdLst>
            <p14:sldId id="2562"/>
            <p14:sldId id="2563"/>
            <p14:sldId id="2564"/>
          </p14:sldIdLst>
        </p14:section>
        <p14:section name="Core Proposal Details" id="{AF80639E-6AB6-4B0B-9462-6EAD361A72A1}">
          <p14:sldIdLst>
            <p14:sldId id="2566"/>
            <p14:sldId id="2567"/>
          </p14:sldIdLst>
        </p14:section>
        <p14:section name="Financial and Operational Planning" id="{F5E8CF7F-E0A1-41B3-A26C-E78FC8044BDF}">
          <p14:sldIdLst>
            <p14:sldId id="2572"/>
          </p14:sldIdLst>
        </p14:section>
        <p14:section name="Market and Business Analysis" id="{DE2ED321-D066-49AC-8575-3615382EBD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84" autoAdjust="0"/>
  </p:normalViewPr>
  <p:slideViewPr>
    <p:cSldViewPr>
      <p:cViewPr varScale="1">
        <p:scale>
          <a:sx n="146" d="100"/>
          <a:sy n="146" d="100"/>
        </p:scale>
        <p:origin x="138" y="2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6CFAC-85BE-4C3F-96CC-6618E2B351D0}" type="datetimeFigureOut">
              <a:t>3/12/2025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B5B313-9049-4F71-8E20-568B6F4CE73A}" type="slidenum">
              <a:t>‹#›</a:t>
            </a:fld>
            <a:endParaRPr lang="en-US"/>
          </a:p>
        </p:txBody>
      </p:sp>
    </p:spTree>
    <p:extLst>
      <p:ext uri="{BB962C8B-B14F-4D97-AF65-F5344CB8AC3E}">
        <p14:creationId xmlns:p14="http://schemas.microsoft.com/office/powerpoint/2010/main" val="4256636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BED89AB-6B6B-4840-9C47-1487B1518127}" type="slidenum">
              <a:t>1</a:t>
            </a:fld>
            <a:endParaRPr lang="en-US"/>
          </a:p>
        </p:txBody>
      </p:sp>
    </p:spTree>
    <p:extLst>
      <p:ext uri="{BB962C8B-B14F-4D97-AF65-F5344CB8AC3E}">
        <p14:creationId xmlns:p14="http://schemas.microsoft.com/office/powerpoint/2010/main" val="222158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Statement, Proposed Solution</a:t>
            </a:r>
          </a:p>
        </p:txBody>
      </p:sp>
      <p:sp>
        <p:nvSpPr>
          <p:cNvPr id="4" name="Slide Number Placeholder 3"/>
          <p:cNvSpPr>
            <a:spLocks noGrp="1"/>
          </p:cNvSpPr>
          <p:nvPr>
            <p:ph type="sldNum" sz="quarter" idx="5"/>
          </p:nvPr>
        </p:nvSpPr>
        <p:spPr/>
        <p:txBody>
          <a:bodyPr/>
          <a:lstStyle/>
          <a:p>
            <a:fld id="{2BED89AB-6B6B-4840-9C47-1487B1518127}" type="slidenum">
              <a:t>2</a:t>
            </a:fld>
            <a:endParaRPr lang="en-US"/>
          </a:p>
        </p:txBody>
      </p:sp>
    </p:spTree>
    <p:extLst>
      <p:ext uri="{BB962C8B-B14F-4D97-AF65-F5344CB8AC3E}">
        <p14:creationId xmlns:p14="http://schemas.microsoft.com/office/powerpoint/2010/main" val="3734390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Executive Summary</a:t>
            </a:r>
          </a:p>
        </p:txBody>
      </p:sp>
      <p:sp>
        <p:nvSpPr>
          <p:cNvPr id="4" name="Slide Number Placeholder 3"/>
          <p:cNvSpPr>
            <a:spLocks noGrp="1"/>
          </p:cNvSpPr>
          <p:nvPr>
            <p:ph type="sldNum" sz="quarter" idx="5"/>
          </p:nvPr>
        </p:nvSpPr>
        <p:spPr/>
        <p:txBody>
          <a:bodyPr/>
          <a:lstStyle/>
          <a:p>
            <a:fld id="{2BED89AB-6B6B-4840-9C47-1487B1518127}" type="slidenum">
              <a:t>4</a:t>
            </a:fld>
            <a:endParaRPr lang="en-US"/>
          </a:p>
        </p:txBody>
      </p:sp>
    </p:spTree>
    <p:extLst>
      <p:ext uri="{BB962C8B-B14F-4D97-AF65-F5344CB8AC3E}">
        <p14:creationId xmlns:p14="http://schemas.microsoft.com/office/powerpoint/2010/main" val="3344989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title slide serves as the first impression of your business proposal. It should include the name of your company, the proposal title, and optionally a tagline that summarizes the essence of your proposal. This slide sets the tone for the entire presentation, so ensure it is visually appealing and professional. Consider adding your company logo and a clean background design that aligns with your brand identity. The purpose of this slide is to immediately communicate what the proposal is about and who is presenting it, creating clarity and professionalism from the start.</a:t>
            </a:r>
          </a:p>
        </p:txBody>
      </p:sp>
      <p:sp>
        <p:nvSpPr>
          <p:cNvPr id="4" name="Slide Number Placeholder 3"/>
          <p:cNvSpPr>
            <a:spLocks noGrp="1"/>
          </p:cNvSpPr>
          <p:nvPr>
            <p:ph type="sldNum" sz="quarter" idx="5"/>
          </p:nvPr>
        </p:nvSpPr>
        <p:spPr/>
        <p:txBody>
          <a:bodyPr/>
          <a:lstStyle/>
          <a:p>
            <a:fld id="{2BED89AB-6B6B-4840-9C47-1487B1518127}" type="slidenum">
              <a:t>5</a:t>
            </a:fld>
            <a:endParaRPr lang="en-US"/>
          </a:p>
        </p:txBody>
      </p:sp>
    </p:spTree>
    <p:extLst>
      <p:ext uri="{BB962C8B-B14F-4D97-AF65-F5344CB8AC3E}">
        <p14:creationId xmlns:p14="http://schemas.microsoft.com/office/powerpoint/2010/main" val="1493832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executive summary provides a concise overview of the entire proposal. It should highlight the key points such as the problem being addressed, the proposed solution, and the expected outcomes. This section is critical because many decision-makers may only read this part before deciding whether to proceed. Include the value proposition, anticipated benefits, and a brief mention of financial implications. Keep it clear and compelling, focusing on why your proposal matters and what makes it unique compared to alternatives.</a:t>
            </a:r>
          </a:p>
        </p:txBody>
      </p:sp>
      <p:sp>
        <p:nvSpPr>
          <p:cNvPr id="4" name="Slide Number Placeholder 3"/>
          <p:cNvSpPr>
            <a:spLocks noGrp="1"/>
          </p:cNvSpPr>
          <p:nvPr>
            <p:ph type="sldNum" sz="quarter" idx="5"/>
          </p:nvPr>
        </p:nvSpPr>
        <p:spPr/>
        <p:txBody>
          <a:bodyPr/>
          <a:lstStyle/>
          <a:p>
            <a:fld id="{2BED89AB-6B6B-4840-9C47-1487B1518127}" type="slidenum">
              <a:t>6</a:t>
            </a:fld>
            <a:endParaRPr lang="en-US"/>
          </a:p>
        </p:txBody>
      </p:sp>
    </p:spTree>
    <p:extLst>
      <p:ext uri="{BB962C8B-B14F-4D97-AF65-F5344CB8AC3E}">
        <p14:creationId xmlns:p14="http://schemas.microsoft.com/office/powerpoint/2010/main" val="377787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problem statement defines the issue your proposal aims to solve. Clearly articulate the pain points, inefficiencies, or gaps in the market that justify the need for your solution. Use data and evidence to support your claims, such as industry reports, customer feedback, or performance metrics. This slide should make the audience understand the urgency and importance of addressing the problem, setting the stage for your proposed solution.</a:t>
            </a:r>
          </a:p>
        </p:txBody>
      </p:sp>
      <p:sp>
        <p:nvSpPr>
          <p:cNvPr id="4" name="Slide Number Placeholder 3"/>
          <p:cNvSpPr>
            <a:spLocks noGrp="1"/>
          </p:cNvSpPr>
          <p:nvPr>
            <p:ph type="sldNum" sz="quarter" idx="5"/>
          </p:nvPr>
        </p:nvSpPr>
        <p:spPr/>
        <p:txBody>
          <a:bodyPr/>
          <a:lstStyle/>
          <a:p>
            <a:fld id="{2BED89AB-6B6B-4840-9C47-1487B1518127}" type="slidenum">
              <a:t>7</a:t>
            </a:fld>
            <a:endParaRPr lang="en-US"/>
          </a:p>
        </p:txBody>
      </p:sp>
    </p:spTree>
    <p:extLst>
      <p:ext uri="{BB962C8B-B14F-4D97-AF65-F5344CB8AC3E}">
        <p14:creationId xmlns:p14="http://schemas.microsoft.com/office/powerpoint/2010/main" val="3306552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your solution to the identified problem. Describe the product, service, or strategy you are proposing, and explain how it effectively addresses the problem. Highlight the unique features or advantages that differentiate your solution from competitors. Include any supporting visuals or diagrams to make the concept clear. Emphasize the benefits and expected impact on the target audience or market.</a:t>
            </a:r>
          </a:p>
        </p:txBody>
      </p:sp>
      <p:sp>
        <p:nvSpPr>
          <p:cNvPr id="4" name="Slide Number Placeholder 3"/>
          <p:cNvSpPr>
            <a:spLocks noGrp="1"/>
          </p:cNvSpPr>
          <p:nvPr>
            <p:ph type="sldNum" sz="quarter" idx="5"/>
          </p:nvPr>
        </p:nvSpPr>
        <p:spPr/>
        <p:txBody>
          <a:bodyPr/>
          <a:lstStyle/>
          <a:p>
            <a:fld id="{2BED89AB-6B6B-4840-9C47-1487B1518127}" type="slidenum">
              <a:t>8</a:t>
            </a:fld>
            <a:endParaRPr lang="en-US"/>
          </a:p>
        </p:txBody>
      </p:sp>
    </p:spTree>
    <p:extLst>
      <p:ext uri="{BB962C8B-B14F-4D97-AF65-F5344CB8AC3E}">
        <p14:creationId xmlns:p14="http://schemas.microsoft.com/office/powerpoint/2010/main" val="2111739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Financial projections provide an estimate of future revenues, expenses, and profitability. Include key metrics such as break-even analysis, return on investment (ROI), and cash flow forecasts. Present data in tables or charts for clarity. This slide should demonstrate that your proposal is not only feasible but also profitable in the long term. Ensure assumptions are realistic and supported by market research.</a:t>
            </a:r>
          </a:p>
        </p:txBody>
      </p:sp>
      <p:sp>
        <p:nvSpPr>
          <p:cNvPr id="4" name="Slide Number Placeholder 3"/>
          <p:cNvSpPr>
            <a:spLocks noGrp="1"/>
          </p:cNvSpPr>
          <p:nvPr>
            <p:ph type="sldNum" sz="quarter" idx="5"/>
          </p:nvPr>
        </p:nvSpPr>
        <p:spPr/>
        <p:txBody>
          <a:bodyPr/>
          <a:lstStyle/>
          <a:p>
            <a:fld id="{2BED89AB-6B6B-4840-9C47-1487B1518127}" type="slidenum">
              <a:t>9</a:t>
            </a:fld>
            <a:endParaRPr lang="en-US"/>
          </a:p>
        </p:txBody>
      </p:sp>
    </p:spTree>
    <p:extLst>
      <p:ext uri="{BB962C8B-B14F-4D97-AF65-F5344CB8AC3E}">
        <p14:creationId xmlns:p14="http://schemas.microsoft.com/office/powerpoint/2010/main" val="1187258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12/3/2025</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12/3/2025</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12/3/2025</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12/3/2025</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12/3/2025</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12/3/2025</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12/3/2025</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12/3/2025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8662C-D7BF-90F6-8EB2-FE16A5645CA0}"/>
              </a:ext>
            </a:extLst>
          </p:cNvPr>
          <p:cNvSpPr>
            <a:spLocks noGrp="1"/>
          </p:cNvSpPr>
          <p:nvPr>
            <p:ph type="ctrTitle"/>
          </p:nvPr>
        </p:nvSpPr>
        <p:spPr>
          <a:xfrm>
            <a:off x="2560321" y="1904300"/>
            <a:ext cx="7084194" cy="2353755"/>
          </a:xfrm>
        </p:spPr>
        <p:txBody>
          <a:bodyPr anchor="ctr">
            <a:normAutofit/>
          </a:bodyPr>
          <a:lstStyle/>
          <a:p>
            <a:r>
              <a:rPr lang="en-US" altLang="zh-HK" sz="2800" dirty="0"/>
              <a:t>CHUNG SIU KEUNG 230328167</a:t>
            </a:r>
            <a:br>
              <a:rPr lang="en-US" altLang="zh-HK" sz="2800" dirty="0"/>
            </a:br>
            <a:endParaRPr lang="en-US" sz="2800" dirty="0"/>
          </a:p>
        </p:txBody>
      </p:sp>
      <p:sp>
        <p:nvSpPr>
          <p:cNvPr id="3" name="Subtitle 2">
            <a:extLst>
              <a:ext uri="{FF2B5EF4-FFF2-40B4-BE49-F238E27FC236}">
                <a16:creationId xmlns:a16="http://schemas.microsoft.com/office/drawing/2014/main" id="{9D5568C5-CA43-6EA1-C8AF-4386E089C7C5}"/>
              </a:ext>
            </a:extLst>
          </p:cNvPr>
          <p:cNvSpPr>
            <a:spLocks noGrp="1"/>
          </p:cNvSpPr>
          <p:nvPr>
            <p:ph type="subTitle" idx="1"/>
          </p:nvPr>
        </p:nvSpPr>
        <p:spPr>
          <a:xfrm>
            <a:off x="3262965" y="4597167"/>
            <a:ext cx="5678905" cy="1082180"/>
          </a:xfrm>
        </p:spPr>
        <p:txBody>
          <a:bodyPr anchor="t">
            <a:normAutofit/>
          </a:bodyPr>
          <a:lstStyle/>
          <a:p>
            <a:endParaRPr lang="en-US" dirty="0"/>
          </a:p>
        </p:txBody>
      </p:sp>
    </p:spTree>
    <p:extLst>
      <p:ext uri="{BB962C8B-B14F-4D97-AF65-F5344CB8AC3E}">
        <p14:creationId xmlns:p14="http://schemas.microsoft.com/office/powerpoint/2010/main" val="333141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nodePh="1">
                                  <p:stCondLst>
                                    <p:cond delay="1000"/>
                                  </p:stCondLst>
                                  <p:endCondLst>
                                    <p:cond evt="begin" delay="0">
                                      <p:tn val="8"/>
                                    </p:cond>
                                  </p:end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nodePh="1">
                                  <p:stCondLst>
                                    <p:cond delay="250"/>
                                  </p:stCondLst>
                                  <p:endCondLst>
                                    <p:cond evt="begin" delay="0">
                                      <p:tn val="11"/>
                                    </p:cond>
                                  </p:end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D361CAD0-861B-1992-7F5F-5891A7C90DFA}"/>
              </a:ext>
            </a:extLst>
          </p:cNvPr>
          <p:cNvSpPr>
            <a:spLocks noGrp="1"/>
          </p:cNvSpPr>
          <p:nvPr>
            <p:ph type="title"/>
          </p:nvPr>
        </p:nvSpPr>
        <p:spPr/>
        <p:txBody>
          <a:bodyPr>
            <a:normAutofit fontScale="90000"/>
          </a:bodyPr>
          <a:lstStyle/>
          <a:p>
            <a:r>
              <a:rPr lang="en-US" altLang="zh-HK" dirty="0"/>
              <a:t>Forecast Hong Kong's daily minimum grass temperature </a:t>
            </a:r>
            <a:br>
              <a:rPr lang="en-US" altLang="zh-HK" dirty="0"/>
            </a:br>
            <a:endParaRPr lang="zh-HK" altLang="en-US" dirty="0"/>
          </a:p>
        </p:txBody>
      </p:sp>
      <p:sp>
        <p:nvSpPr>
          <p:cNvPr id="4" name="內容版面配置區 3">
            <a:extLst>
              <a:ext uri="{FF2B5EF4-FFF2-40B4-BE49-F238E27FC236}">
                <a16:creationId xmlns:a16="http://schemas.microsoft.com/office/drawing/2014/main" id="{2550B71D-AAAD-8E62-4204-5182805639F3}"/>
              </a:ext>
            </a:extLst>
          </p:cNvPr>
          <p:cNvSpPr>
            <a:spLocks noGrp="1"/>
          </p:cNvSpPr>
          <p:nvPr>
            <p:ph idx="1"/>
          </p:nvPr>
        </p:nvSpPr>
        <p:spPr/>
        <p:txBody>
          <a:bodyPr/>
          <a:lstStyle/>
          <a:p>
            <a:r>
              <a:rPr lang="en-US" altLang="zh-HK" dirty="0"/>
              <a:t>Use Recurrent Neural Networks (RNN) and Long Short-Term Memory (LSTM) for the data.</a:t>
            </a:r>
          </a:p>
          <a:p>
            <a:r>
              <a:rPr lang="en-US" altLang="zh-HK" dirty="0"/>
              <a:t>Data: Historical from Hong Kong Observatory (1980-2024 for training, 2025 Jan-Oct for testing).</a:t>
            </a:r>
          </a:p>
          <a:p>
            <a:endParaRPr lang="zh-HK" altLang="en-US" dirty="0"/>
          </a:p>
        </p:txBody>
      </p:sp>
    </p:spTree>
    <p:extLst>
      <p:ext uri="{BB962C8B-B14F-4D97-AF65-F5344CB8AC3E}">
        <p14:creationId xmlns:p14="http://schemas.microsoft.com/office/powerpoint/2010/main" val="5468132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187EC1-507A-AF32-6F9E-5859BF26E1F1}"/>
              </a:ext>
            </a:extLst>
          </p:cNvPr>
          <p:cNvSpPr>
            <a:spLocks noGrp="1"/>
          </p:cNvSpPr>
          <p:nvPr>
            <p:ph type="title"/>
          </p:nvPr>
        </p:nvSpPr>
        <p:spPr/>
        <p:txBody>
          <a:bodyPr/>
          <a:lstStyle/>
          <a:p>
            <a:r>
              <a:rPr lang="en-US" altLang="zh-HK" dirty="0"/>
              <a:t>Data and Preprocessing</a:t>
            </a:r>
            <a:endParaRPr lang="zh-HK" altLang="en-US" dirty="0"/>
          </a:p>
        </p:txBody>
      </p:sp>
      <p:sp>
        <p:nvSpPr>
          <p:cNvPr id="3" name="內容版面配置區 2">
            <a:extLst>
              <a:ext uri="{FF2B5EF4-FFF2-40B4-BE49-F238E27FC236}">
                <a16:creationId xmlns:a16="http://schemas.microsoft.com/office/drawing/2014/main" id="{B21C89C2-7304-50FB-C104-140AEA28BC07}"/>
              </a:ext>
            </a:extLst>
          </p:cNvPr>
          <p:cNvSpPr>
            <a:spLocks noGrp="1"/>
          </p:cNvSpPr>
          <p:nvPr>
            <p:ph idx="1"/>
          </p:nvPr>
        </p:nvSpPr>
        <p:spPr/>
        <p:txBody>
          <a:bodyPr/>
          <a:lstStyle/>
          <a:p>
            <a:r>
              <a:rPr lang="en-US" altLang="zh-HK" dirty="0"/>
              <a:t>Title: Data and Preprocessing</a:t>
            </a:r>
          </a:p>
          <a:p>
            <a:r>
              <a:rPr lang="en-US" altLang="zh-HK" dirty="0"/>
              <a:t>Source: HKO dataset from data.gov. </a:t>
            </a:r>
          </a:p>
          <a:p>
            <a:r>
              <a:rPr lang="en-US" altLang="zh-HK" dirty="0"/>
              <a:t>Preprocessing: Skip metadata(Header), handle '***' missing, drop invalid rows.</a:t>
            </a:r>
          </a:p>
          <a:p>
            <a:r>
              <a:rPr lang="en-US" altLang="zh-HK" dirty="0"/>
              <a:t>Sequences: Window size = 30 days to predict next day.</a:t>
            </a:r>
          </a:p>
          <a:p>
            <a:endParaRPr lang="en-US" altLang="zh-HK" dirty="0"/>
          </a:p>
          <a:p>
            <a:r>
              <a:rPr lang="en-US" altLang="zh-HK" dirty="0"/>
              <a:t>Training Data: 1980-2024 (~16,436 entries); Test: 2025 Jan-Oct (~304 entries).</a:t>
            </a:r>
            <a:endParaRPr lang="zh-HK" altLang="en-US" dirty="0"/>
          </a:p>
        </p:txBody>
      </p:sp>
      <p:pic>
        <p:nvPicPr>
          <p:cNvPr id="8" name="圖片 7">
            <a:extLst>
              <a:ext uri="{FF2B5EF4-FFF2-40B4-BE49-F238E27FC236}">
                <a16:creationId xmlns:a16="http://schemas.microsoft.com/office/drawing/2014/main" id="{FE79612C-1D79-2A22-59B0-169466F17597}"/>
              </a:ext>
            </a:extLst>
          </p:cNvPr>
          <p:cNvPicPr>
            <a:picLocks noChangeAspect="1"/>
          </p:cNvPicPr>
          <p:nvPr/>
        </p:nvPicPr>
        <p:blipFill>
          <a:blip r:embed="rId2"/>
          <a:stretch>
            <a:fillRect/>
          </a:stretch>
        </p:blipFill>
        <p:spPr>
          <a:xfrm>
            <a:off x="8229600" y="3079535"/>
            <a:ext cx="2971800" cy="970206"/>
          </a:xfrm>
          <a:prstGeom prst="rect">
            <a:avLst/>
          </a:prstGeom>
        </p:spPr>
      </p:pic>
      <p:pic>
        <p:nvPicPr>
          <p:cNvPr id="10" name="圖片 9" descr="一張含有 文字, 字型, 收據, 數字 的圖片&#10;&#10;AI 產生的內容可能不正確。">
            <a:extLst>
              <a:ext uri="{FF2B5EF4-FFF2-40B4-BE49-F238E27FC236}">
                <a16:creationId xmlns:a16="http://schemas.microsoft.com/office/drawing/2014/main" id="{A7B40A1B-F374-E92D-8766-B0939D19EA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8714" y="4439364"/>
            <a:ext cx="3172268" cy="1343212"/>
          </a:xfrm>
          <a:prstGeom prst="rect">
            <a:avLst/>
          </a:prstGeom>
        </p:spPr>
      </p:pic>
    </p:spTree>
    <p:extLst>
      <p:ext uri="{BB962C8B-B14F-4D97-AF65-F5344CB8AC3E}">
        <p14:creationId xmlns:p14="http://schemas.microsoft.com/office/powerpoint/2010/main" val="2704450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6FAFF-973A-45CE-6D51-6C167A13C4A8}"/>
              </a:ext>
            </a:extLst>
          </p:cNvPr>
          <p:cNvSpPr>
            <a:spLocks noGrp="1"/>
          </p:cNvSpPr>
          <p:nvPr>
            <p:ph type="title"/>
          </p:nvPr>
        </p:nvSpPr>
        <p:spPr/>
        <p:txBody>
          <a:bodyPr anchor="b">
            <a:normAutofit/>
          </a:bodyPr>
          <a:lstStyle/>
          <a:p>
            <a:r>
              <a:rPr lang="en-US" altLang="zh-HK" dirty="0"/>
              <a:t>Models</a:t>
            </a:r>
            <a:endParaRPr lang="en-US" altLang="zh-HK" dirty="0">
              <a:effectLst/>
            </a:endParaRPr>
          </a:p>
        </p:txBody>
      </p:sp>
      <p:sp>
        <p:nvSpPr>
          <p:cNvPr id="3" name="內容版面配置區 2">
            <a:extLst>
              <a:ext uri="{FF2B5EF4-FFF2-40B4-BE49-F238E27FC236}">
                <a16:creationId xmlns:a16="http://schemas.microsoft.com/office/drawing/2014/main" id="{4A0E9F7D-6402-0B05-B0EC-6F5A2E5EC6CC}"/>
              </a:ext>
            </a:extLst>
          </p:cNvPr>
          <p:cNvSpPr>
            <a:spLocks noGrp="1"/>
          </p:cNvSpPr>
          <p:nvPr>
            <p:ph idx="1"/>
          </p:nvPr>
        </p:nvSpPr>
        <p:spPr/>
        <p:txBody>
          <a:bodyPr/>
          <a:lstStyle/>
          <a:p>
            <a:endParaRPr lang="en-US" altLang="zh-HK" dirty="0"/>
          </a:p>
          <a:p>
            <a:endParaRPr lang="en-US" altLang="zh-HK" dirty="0"/>
          </a:p>
          <a:p>
            <a:r>
              <a:rPr lang="en-US" altLang="zh-HK" dirty="0"/>
              <a:t>RNN: 2 layers (50 unit</a:t>
            </a:r>
            <a:r>
              <a:rPr lang="en-US" altLang="zh-TW" dirty="0"/>
              <a:t>,</a:t>
            </a:r>
            <a:r>
              <a:rPr lang="en-US" altLang="zh-HK" dirty="0"/>
              <a:t> batch size=32 </a:t>
            </a:r>
            <a:r>
              <a:rPr lang="en-US" altLang="zh-TW" dirty="0"/>
              <a:t>, epochs=100</a:t>
            </a:r>
            <a:r>
              <a:rPr lang="en-US" altLang="zh-HK" dirty="0"/>
              <a:t>).</a:t>
            </a:r>
          </a:p>
          <a:p>
            <a:r>
              <a:rPr lang="en-US" altLang="zh-HK" dirty="0"/>
              <a:t>LSTM: 2 layers (50 unit, batch size=32</a:t>
            </a:r>
            <a:r>
              <a:rPr lang="en-US" altLang="zh-TW" dirty="0"/>
              <a:t>, epochs=100</a:t>
            </a:r>
            <a:r>
              <a:rPr lang="en-US" altLang="zh-HK" dirty="0"/>
              <a:t>).</a:t>
            </a:r>
          </a:p>
          <a:p>
            <a:r>
              <a:rPr lang="en-US" altLang="zh-HK" dirty="0"/>
              <a:t>RNN: MAE=0.96°C, RMSE=1.31°C</a:t>
            </a:r>
          </a:p>
          <a:p>
            <a:r>
              <a:rPr lang="en-US" altLang="zh-HK" dirty="0"/>
              <a:t>LSTM: MAE=1.10°C, RMSE=1.38°C</a:t>
            </a:r>
          </a:p>
          <a:p>
            <a:endParaRPr lang="zh-HK" altLang="en-US" dirty="0"/>
          </a:p>
        </p:txBody>
      </p:sp>
    </p:spTree>
    <p:extLst>
      <p:ext uri="{BB962C8B-B14F-4D97-AF65-F5344CB8AC3E}">
        <p14:creationId xmlns:p14="http://schemas.microsoft.com/office/powerpoint/2010/main" val="2672554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84C5-129A-31C0-B790-EB8FAEB02902}"/>
              </a:ext>
            </a:extLst>
          </p:cNvPr>
          <p:cNvSpPr>
            <a:spLocks noGrp="1"/>
          </p:cNvSpPr>
          <p:nvPr>
            <p:ph type="title"/>
          </p:nvPr>
        </p:nvSpPr>
        <p:spPr>
          <a:xfrm>
            <a:off x="768096" y="822960"/>
            <a:ext cx="3367238" cy="2031205"/>
          </a:xfrm>
        </p:spPr>
        <p:txBody>
          <a:bodyPr anchor="t">
            <a:normAutofit/>
          </a:bodyPr>
          <a:lstStyle/>
          <a:p>
            <a:endParaRPr lang="en-US" dirty="0"/>
          </a:p>
        </p:txBody>
      </p:sp>
      <p:pic>
        <p:nvPicPr>
          <p:cNvPr id="5" name="內容版面配置區 4" descr="一張含有 文字, 螢幕擷取畫面, 字型, 圖表 的圖片&#10;&#10;AI 產生的內容可能不正確。">
            <a:extLst>
              <a:ext uri="{FF2B5EF4-FFF2-40B4-BE49-F238E27FC236}">
                <a16:creationId xmlns:a16="http://schemas.microsoft.com/office/drawing/2014/main" id="{8C6B6000-5030-8001-4C5A-55062A7F2407}"/>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90599" y="609600"/>
            <a:ext cx="10210801" cy="5105400"/>
          </a:xfrm>
        </p:spPr>
      </p:pic>
      <p:sp>
        <p:nvSpPr>
          <p:cNvPr id="8" name="橢圓 7">
            <a:extLst>
              <a:ext uri="{FF2B5EF4-FFF2-40B4-BE49-F238E27FC236}">
                <a16:creationId xmlns:a16="http://schemas.microsoft.com/office/drawing/2014/main" id="{9099DD3F-63B3-DE8F-6563-516E58857B8A}"/>
              </a:ext>
            </a:extLst>
          </p:cNvPr>
          <p:cNvSpPr/>
          <p:nvPr/>
        </p:nvSpPr>
        <p:spPr>
          <a:xfrm rot="317084">
            <a:off x="6566517" y="1337048"/>
            <a:ext cx="699309" cy="11043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a:p>
        </p:txBody>
      </p:sp>
    </p:spTree>
    <p:extLst>
      <p:ext uri="{BB962C8B-B14F-4D97-AF65-F5344CB8AC3E}">
        <p14:creationId xmlns:p14="http://schemas.microsoft.com/office/powerpoint/2010/main" val="403599035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06C7-135C-3E65-4090-E1601668D17A}"/>
              </a:ext>
            </a:extLst>
          </p:cNvPr>
          <p:cNvSpPr>
            <a:spLocks noGrp="1"/>
          </p:cNvSpPr>
          <p:nvPr>
            <p:ph type="title"/>
          </p:nvPr>
        </p:nvSpPr>
        <p:spPr>
          <a:xfrm>
            <a:off x="768096" y="822960"/>
            <a:ext cx="3367238" cy="2031205"/>
          </a:xfrm>
        </p:spPr>
        <p:txBody>
          <a:bodyPr anchor="t">
            <a:normAutofit/>
          </a:bodyPr>
          <a:lstStyle/>
          <a:p>
            <a:endParaRPr lang="en-US" dirty="0"/>
          </a:p>
        </p:txBody>
      </p:sp>
      <p:pic>
        <p:nvPicPr>
          <p:cNvPr id="9" name="內容版面配置區 8" descr="一張含有 文字, 螢幕擷取畫面, 字型, 圖表 的圖片&#10;&#10;AI 產生的內容可能不正確。">
            <a:extLst>
              <a:ext uri="{FF2B5EF4-FFF2-40B4-BE49-F238E27FC236}">
                <a16:creationId xmlns:a16="http://schemas.microsoft.com/office/drawing/2014/main" id="{A70C5E21-4678-CD0C-353A-B5D9D48CE311}"/>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066800" y="822960"/>
            <a:ext cx="9906001" cy="4953000"/>
          </a:xfrm>
        </p:spPr>
      </p:pic>
      <p:sp>
        <p:nvSpPr>
          <p:cNvPr id="10" name="橢圓 9">
            <a:extLst>
              <a:ext uri="{FF2B5EF4-FFF2-40B4-BE49-F238E27FC236}">
                <a16:creationId xmlns:a16="http://schemas.microsoft.com/office/drawing/2014/main" id="{26025DB9-93DF-0D9C-90A5-FEDF79ABE918}"/>
              </a:ext>
            </a:extLst>
          </p:cNvPr>
          <p:cNvSpPr/>
          <p:nvPr/>
        </p:nvSpPr>
        <p:spPr>
          <a:xfrm rot="317084">
            <a:off x="6526373" y="1477657"/>
            <a:ext cx="699309" cy="11043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a:p>
        </p:txBody>
      </p:sp>
    </p:spTree>
    <p:extLst>
      <p:ext uri="{BB962C8B-B14F-4D97-AF65-F5344CB8AC3E}">
        <p14:creationId xmlns:p14="http://schemas.microsoft.com/office/powerpoint/2010/main" val="209702608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2F9AC-D6B1-216E-4E54-01CDD91B98A6}"/>
              </a:ext>
            </a:extLst>
          </p:cNvPr>
          <p:cNvSpPr>
            <a:spLocks noGrp="1"/>
          </p:cNvSpPr>
          <p:nvPr>
            <p:ph type="title"/>
          </p:nvPr>
        </p:nvSpPr>
        <p:spPr>
          <a:xfrm>
            <a:off x="768096" y="822960"/>
            <a:ext cx="3367238" cy="2031205"/>
          </a:xfrm>
        </p:spPr>
        <p:txBody>
          <a:bodyPr anchor="t">
            <a:normAutofit/>
          </a:bodyPr>
          <a:lstStyle/>
          <a:p>
            <a:endParaRPr lang="en-US" dirty="0"/>
          </a:p>
        </p:txBody>
      </p:sp>
      <p:pic>
        <p:nvPicPr>
          <p:cNvPr id="9" name="內容版面配置區 8" descr="一張含有 圖表, 繪圖, 螢幕擷取畫面, 像素 的圖片&#10;&#10;AI 產生的內容可能不正確。">
            <a:extLst>
              <a:ext uri="{FF2B5EF4-FFF2-40B4-BE49-F238E27FC236}">
                <a16:creationId xmlns:a16="http://schemas.microsoft.com/office/drawing/2014/main" id="{8DBD8921-8A6C-C883-5401-7A99AA3E118F}"/>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112220" y="1302698"/>
            <a:ext cx="5852172" cy="4389129"/>
          </a:xfrm>
        </p:spPr>
      </p:pic>
    </p:spTree>
    <p:extLst>
      <p:ext uri="{BB962C8B-B14F-4D97-AF65-F5344CB8AC3E}">
        <p14:creationId xmlns:p14="http://schemas.microsoft.com/office/powerpoint/2010/main" val="214858949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F324-193F-E366-2DA1-F522446E02B0}"/>
              </a:ext>
            </a:extLst>
          </p:cNvPr>
          <p:cNvSpPr>
            <a:spLocks noGrp="1"/>
          </p:cNvSpPr>
          <p:nvPr>
            <p:ph type="title"/>
          </p:nvPr>
        </p:nvSpPr>
        <p:spPr>
          <a:xfrm>
            <a:off x="768096" y="822960"/>
            <a:ext cx="3367238" cy="2031205"/>
          </a:xfrm>
        </p:spPr>
        <p:txBody>
          <a:bodyPr anchor="t">
            <a:normAutofit/>
          </a:bodyPr>
          <a:lstStyle/>
          <a:p>
            <a:endParaRPr lang="en-US" dirty="0"/>
          </a:p>
        </p:txBody>
      </p:sp>
      <p:pic>
        <p:nvPicPr>
          <p:cNvPr id="5" name="內容版面配置區 4" descr="一張含有 圖表, 螢幕擷取畫面, 繪圖, 文字 的圖片&#10;&#10;AI 產生的內容可能不正確。">
            <a:extLst>
              <a:ext uri="{FF2B5EF4-FFF2-40B4-BE49-F238E27FC236}">
                <a16:creationId xmlns:a16="http://schemas.microsoft.com/office/drawing/2014/main" id="{3F076E77-56E2-272F-B3BE-4B0BFFDBC318}"/>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112220" y="1302698"/>
            <a:ext cx="5852172" cy="4389129"/>
          </a:xfrm>
        </p:spPr>
      </p:pic>
    </p:spTree>
    <p:extLst>
      <p:ext uri="{BB962C8B-B14F-4D97-AF65-F5344CB8AC3E}">
        <p14:creationId xmlns:p14="http://schemas.microsoft.com/office/powerpoint/2010/main" val="90692945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08EE-686C-62F0-AFE4-2AA61057D24E}"/>
              </a:ext>
            </a:extLst>
          </p:cNvPr>
          <p:cNvSpPr>
            <a:spLocks noGrp="1"/>
          </p:cNvSpPr>
          <p:nvPr>
            <p:ph type="title"/>
          </p:nvPr>
        </p:nvSpPr>
        <p:spPr>
          <a:xfrm>
            <a:off x="1219200" y="1097280"/>
            <a:ext cx="3205908" cy="3428174"/>
          </a:xfrm>
        </p:spPr>
        <p:txBody>
          <a:bodyPr anchor="t">
            <a:normAutofit/>
          </a:bodyPr>
          <a:lstStyle/>
          <a:p>
            <a:r>
              <a:rPr lang="en-US" altLang="zh-HK" dirty="0"/>
              <a:t>extreme events</a:t>
            </a:r>
            <a:endParaRPr lang="en-US" dirty="0"/>
          </a:p>
        </p:txBody>
      </p:sp>
      <p:pic>
        <p:nvPicPr>
          <p:cNvPr id="5" name="內容版面配置區 4" descr="一張含有 文字, 螢幕擷取畫面, 軟體 的圖片&#10;&#10;AI 產生的內容可能不正確。">
            <a:extLst>
              <a:ext uri="{FF2B5EF4-FFF2-40B4-BE49-F238E27FC236}">
                <a16:creationId xmlns:a16="http://schemas.microsoft.com/office/drawing/2014/main" id="{E264C2AE-2AF7-7DC3-2664-093B8EDA8D9A}"/>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219200" y="2057400"/>
            <a:ext cx="6662602" cy="3285146"/>
          </a:xfrm>
        </p:spPr>
      </p:pic>
    </p:spTree>
    <p:extLst>
      <p:ext uri="{BB962C8B-B14F-4D97-AF65-F5344CB8AC3E}">
        <p14:creationId xmlns:p14="http://schemas.microsoft.com/office/powerpoint/2010/main" val="1746339246"/>
      </p:ext>
    </p:extLst>
  </p:cSld>
  <p:clrMapOvr>
    <a:masterClrMapping/>
  </p:clrMapOvr>
  <p:transition>
    <p:fade/>
  </p:transition>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9BDB02-468F-47C2-99BC-A44747A5A2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9E0C342-8465-4BC7-8BC2-109769D155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A8AE46-CCEC-4D32-B819-DE8E9574F91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Oasis</Template>
  <TotalTime>364</TotalTime>
  <Words>615</Words>
  <Application>Microsoft Office PowerPoint</Application>
  <PresentationFormat>寬螢幕</PresentationFormat>
  <Paragraphs>35</Paragraphs>
  <Slides>9</Slides>
  <Notes>8</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9</vt:i4>
      </vt:variant>
    </vt:vector>
  </HeadingPairs>
  <TitlesOfParts>
    <vt:vector size="13" baseType="lpstr">
      <vt:lpstr>Arial</vt:lpstr>
      <vt:lpstr>Calibri</vt:lpstr>
      <vt:lpstr>Neue Haas Grotesk Text Pro</vt:lpstr>
      <vt:lpstr>Oasis</vt:lpstr>
      <vt:lpstr>CHUNG SIU KEUNG 230328167 </vt:lpstr>
      <vt:lpstr>Forecast Hong Kong's daily minimum grass temperature  </vt:lpstr>
      <vt:lpstr>Data and Preprocessing</vt:lpstr>
      <vt:lpstr>Models</vt:lpstr>
      <vt:lpstr>PowerPoint 簡報</vt:lpstr>
      <vt:lpstr>PowerPoint 簡報</vt:lpstr>
      <vt:lpstr>PowerPoint 簡報</vt:lpstr>
      <vt:lpstr>PowerPoint 簡報</vt:lpstr>
      <vt:lpstr>extreme events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dc:creator>
  <cp:lastModifiedBy>CHUNG Siu Keung (230328167)</cp:lastModifiedBy>
  <cp:revision>4</cp:revision>
  <dcterms:created xsi:type="dcterms:W3CDTF">2025-08-21T23:18:14Z</dcterms:created>
  <dcterms:modified xsi:type="dcterms:W3CDTF">2025-12-03T21:09:23Z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